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  <p:sldMasterId id="2147483664" r:id="rId2"/>
    <p:sldMasterId id="2147483668" r:id="rId3"/>
  </p:sldMasterIdLst>
  <p:sldIdLst>
    <p:sldId id="257" r:id="rId4"/>
    <p:sldId id="258" r:id="rId5"/>
    <p:sldId id="259" r:id="rId6"/>
    <p:sldId id="260" r:id="rId7"/>
    <p:sldId id="268" r:id="rId8"/>
    <p:sldId id="261" r:id="rId9"/>
    <p:sldId id="262" r:id="rId10"/>
    <p:sldId id="263" r:id="rId11"/>
    <p:sldId id="269" r:id="rId12"/>
    <p:sldId id="270" r:id="rId13"/>
    <p:sldId id="264" r:id="rId14"/>
    <p:sldId id="265" r:id="rId15"/>
    <p:sldId id="266" r:id="rId16"/>
    <p:sldId id="267" r:id="rId17"/>
    <p:sldId id="271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lstStyle/>
          <a:p>
            <a:fld id="{0F5678AB-8C3C-42CE-8377-FB3F6C6AD28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E9DD2C30-D514-4BB1-A78E-118E7E55DFF0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5224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2CAAB91-A9AB-45E4-B5DC-7CB1A2B2FD6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12EC1A4-C35D-4121-868F-0466AC9444D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3550"/>
          </a:bodyPr>
          <a:lstStyle/>
          <a:p>
            <a:pPr indent="0"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60CAFB6-354B-43FA-85D7-0A7502768612}" type="slidenum">
              <a:rPr lang="en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3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buNone/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D12372A-245E-4344-8944-2DD2AA039B74}" type="slidenum">
              <a:rPr lang="en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1111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456E0E-7EB1-40E8-AF73-0636057A3F07}" type="slidenum">
              <a:rPr lang="en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361090" y="1404990"/>
            <a:ext cx="620557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Renewable Energy Trading</a:t>
            </a:r>
            <a:r>
              <a:rPr lang="en-US" sz="2800" spc="-1" dirty="0">
                <a:solidFill>
                  <a:srgbClr val="000000"/>
                </a:solidFill>
              </a:rPr>
              <a:t> </a:t>
            </a:r>
            <a:r>
              <a:rPr lang="en-US" sz="2800" b="1" spc="-1" dirty="0">
                <a:solidFill>
                  <a:srgbClr val="000000"/>
                </a:solidFill>
              </a:rPr>
              <a:t>System</a:t>
            </a:r>
            <a:endParaRPr lang="en-US" sz="2800" b="1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19194" y="1182096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E61BB2-52D9-A6D3-A9C5-121DD41311C8}"/>
              </a:ext>
            </a:extLst>
          </p:cNvPr>
          <p:cNvSpPr txBox="1"/>
          <p:nvPr/>
        </p:nvSpPr>
        <p:spPr>
          <a:xfrm>
            <a:off x="3878580" y="3362819"/>
            <a:ext cx="1539240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en-US" dirty="0"/>
              <a:t>Alok Sharma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CC28E-5568-60AA-F4A8-EDD3AF3891C6}"/>
              </a:ext>
            </a:extLst>
          </p:cNvPr>
          <p:cNvSpPr txBox="1"/>
          <p:nvPr/>
        </p:nvSpPr>
        <p:spPr>
          <a:xfrm>
            <a:off x="4331940" y="2993487"/>
            <a:ext cx="479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05082" y="1087358"/>
            <a:ext cx="8333476" cy="379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" sz="1800" b="1" spc="-1" dirty="0">
                <a:solidFill>
                  <a:schemeClr val="dk1"/>
                </a:solidFill>
                <a:ea typeface="Arial"/>
              </a:rPr>
              <a:t>Problem Statement</a:t>
            </a:r>
            <a:br>
              <a:rPr lang="en" sz="1800" b="1" spc="-1" dirty="0">
                <a:solidFill>
                  <a:schemeClr val="dk1"/>
                </a:solidFill>
                <a:ea typeface="Arial"/>
              </a:rPr>
            </a:br>
            <a:r>
              <a:rPr lang="en" sz="1800" b="1" spc="-1" dirty="0">
                <a:solidFill>
                  <a:schemeClr val="dk1"/>
                </a:solidFill>
                <a:ea typeface="Arial"/>
              </a:rPr>
              <a:t>	</a:t>
            </a:r>
            <a:br>
              <a:rPr lang="en" sz="1800" b="1" spc="-1" dirty="0">
                <a:solidFill>
                  <a:schemeClr val="dk1"/>
                </a:solidFill>
                <a:ea typeface="Arial"/>
              </a:rPr>
            </a:br>
            <a:br>
              <a:rPr lang="en" sz="1800" b="1" spc="-1" dirty="0">
                <a:solidFill>
                  <a:schemeClr val="dk1"/>
                </a:solidFill>
                <a:ea typeface="Arial"/>
              </a:rPr>
            </a:br>
            <a:br>
              <a:rPr lang="en-US" sz="1800" b="1" spc="-1" dirty="0">
                <a:solidFill>
                  <a:srgbClr val="000000"/>
                </a:solidFill>
              </a:rPr>
            </a:br>
            <a:br>
              <a:rPr lang="en-US" sz="1800" b="1" spc="-1" dirty="0">
                <a:solidFill>
                  <a:srgbClr val="000000"/>
                </a:solidFill>
              </a:rPr>
            </a:br>
            <a:br>
              <a:rPr lang="en-US" sz="1800" b="1" spc="-1" dirty="0">
                <a:solidFill>
                  <a:srgbClr val="000000"/>
                </a:solidFill>
              </a:rPr>
            </a:br>
            <a:br>
              <a:rPr lang="en-US" sz="1800" b="1" spc="-1" dirty="0">
                <a:solidFill>
                  <a:srgbClr val="000000"/>
                </a:solidFill>
              </a:rPr>
            </a:br>
            <a:br>
              <a:rPr lang="en-US" sz="1800" b="1" spc="-1" dirty="0">
                <a:solidFill>
                  <a:srgbClr val="000000"/>
                </a:solidFill>
              </a:rPr>
            </a:br>
            <a:r>
              <a:rPr lang="en-US" sz="1800" b="1" spc="-1" dirty="0">
                <a:solidFill>
                  <a:srgbClr val="000000"/>
                </a:solidFill>
              </a:rPr>
              <a:t>Overview</a:t>
            </a:r>
            <a:endParaRPr lang="en-US" sz="1800" b="1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05082" y="1466743"/>
            <a:ext cx="8520120" cy="13474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330210" indent="-17145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The shift toward renewable energy requires smarter decision-making to optimize generation and trading.</a:t>
            </a:r>
            <a:endParaRPr lang="en-US" sz="11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Forecasting market trends and grid demand is complex and data-driven.</a:t>
            </a:r>
            <a:endParaRPr lang="en-US" sz="11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Manual energy trading is inefficient and often reactive.</a:t>
            </a:r>
            <a:endParaRPr lang="en-US" sz="11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Goal: Automate renewable energy trading using real-time weather data and ML forecasts.</a:t>
            </a:r>
            <a:endParaRPr lang="en-US" sz="11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17145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pos="0" algn="l"/>
              </a:tabLst>
            </a:pPr>
            <a:endParaRPr lang="en-US" sz="11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B9BC28-E9F4-51DB-DF25-CAEBAFA5DAC1}"/>
              </a:ext>
            </a:extLst>
          </p:cNvPr>
          <p:cNvSpPr txBox="1"/>
          <p:nvPr/>
        </p:nvSpPr>
        <p:spPr>
          <a:xfrm>
            <a:off x="554181" y="3580859"/>
            <a:ext cx="775854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This project showcases an AI-powered renewable energy trading platform built with modular microservices. It uses machine learning to forecast energy output, prices, and demand, enabling real-time automated trading decisions. The system includes containerized services for forecasting, trading, scheduling, and visualization, all orchestrated with Docker. A user-friendly dashboard provides insights into trends, actions, and profits, making the platform scalable, efficient, and cloud-ready.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329140" cy="2824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System Architecture (Microservices)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7222" lnSpcReduction="20000"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3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5 core services: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Weather Service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Forecast Service (ML)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Trading Service (Decision Logic)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Cron Scheduler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Dashboard (Streamlit)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3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Services communicate over REST APIs via Docker Compose.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3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Modular and independently scalable design.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Picture 1" descr="A diagram of weather service">
            <a:extLst>
              <a:ext uri="{FF2B5EF4-FFF2-40B4-BE49-F238E27FC236}">
                <a16:creationId xmlns:a16="http://schemas.microsoft.com/office/drawing/2014/main" id="{03639BA4-6333-713A-4354-A919224BD4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820" y="1017360"/>
            <a:ext cx="4069080" cy="332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Forecast Service (ML Models)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20000"/>
          </a:bodyPr>
          <a:lstStyle/>
          <a:p>
            <a:pPr marL="158760" indent="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-US" sz="1100" spc="-1" dirty="0">
                <a:solidFill>
                  <a:schemeClr val="dk1"/>
                </a:solidFill>
                <a:ea typeface="Arial"/>
              </a:rPr>
              <a:t>To generate real-time predictions of energy metrics using machine learning, based on current weather conditions.</a:t>
            </a:r>
          </a:p>
          <a:p>
            <a:pPr marL="158760" indent="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" sz="1100" b="1" strike="noStrike" spc="-1" dirty="0">
                <a:solidFill>
                  <a:schemeClr val="dk1"/>
                </a:solidFill>
                <a:latin typeface="Arial"/>
                <a:ea typeface="Arial"/>
              </a:rPr>
              <a:t>Predicts:</a:t>
            </a:r>
            <a:endParaRPr lang="en-US" sz="1100" b="1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Renewable generation (MW)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Market electricity price (USD/MWh)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Grid load demand (MW)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158760" indent="0">
              <a:lnSpc>
                <a:spcPct val="115000"/>
              </a:lnSpc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" sz="1100" b="1" strike="noStrike" spc="-1" dirty="0">
                <a:solidFill>
                  <a:schemeClr val="dk1"/>
                </a:solidFill>
                <a:latin typeface="Arial"/>
                <a:ea typeface="Arial"/>
              </a:rPr>
              <a:t>Input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: weather data (temp, wind speed, irradiance)</a:t>
            </a:r>
          </a:p>
          <a:p>
            <a:pPr marL="158760" indent="0">
              <a:lnSpc>
                <a:spcPct val="115000"/>
              </a:lnSpc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-US" sz="1100" b="1" dirty="0"/>
              <a:t>How It Works:</a:t>
            </a: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dirty="0"/>
              <a:t>Fetches weather data from the Weather Service (via API).</a:t>
            </a: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dirty="0"/>
              <a:t>Parses and preprocesses the data (normalization, feature selection).</a:t>
            </a: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dirty="0"/>
              <a:t>Applies pre-trained ML models (e.g., </a:t>
            </a:r>
            <a:r>
              <a:rPr lang="en-US" sz="1100" dirty="0" err="1"/>
              <a:t>RandomForest</a:t>
            </a:r>
            <a:r>
              <a:rPr lang="en-US" sz="1100" dirty="0"/>
              <a:t>, </a:t>
            </a:r>
            <a:r>
              <a:rPr lang="en-US" sz="1100" dirty="0" err="1"/>
              <a:t>XGBoost</a:t>
            </a:r>
            <a:r>
              <a:rPr lang="en-US" sz="1100" dirty="0"/>
              <a:t> using scikit-learn).</a:t>
            </a: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100" dirty="0"/>
              <a:t>Generates a row of predictions for each forecast interval.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158760" indent="0">
              <a:lnSpc>
                <a:spcPct val="115000"/>
              </a:lnSpc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" sz="1100" b="1" strike="noStrike" spc="-1" dirty="0">
                <a:solidFill>
                  <a:schemeClr val="dk1"/>
                </a:solidFill>
                <a:latin typeface="Arial"/>
                <a:ea typeface="Arial"/>
              </a:rPr>
              <a:t>Output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: </a:t>
            </a:r>
            <a:r>
              <a:rPr lang="en" sz="1100" b="0" strike="noStrike" spc="-1" dirty="0">
                <a:solidFill>
                  <a:srgbClr val="188038"/>
                </a:solidFill>
                <a:latin typeface="Roboto Mono"/>
                <a:ea typeface="Roboto Mono"/>
              </a:rPr>
              <a:t>forecast_*.csv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with timestamped predictions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F84BEED-1042-13F7-4199-239C8DF13F3E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311760" y="709025"/>
            <a:ext cx="7713971" cy="430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make real-time trading decisions (Buy, Sell, Hold) based on forecasted energy output, market price, and grid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Inputs: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Predicted energy output (MW)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Predicted market price (USD/MWh)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Interval (e.g., 15 minutes)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100" b="1" dirty="0"/>
              <a:t>How it works: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100" dirty="0"/>
              <a:t>Receives forecast data row-by-row.</a:t>
            </a:r>
          </a:p>
          <a:p>
            <a:r>
              <a:rPr lang="en-US" sz="1100" dirty="0"/>
              <a:t>Applies rule-based logic</a:t>
            </a:r>
          </a:p>
          <a:p>
            <a:r>
              <a:rPr lang="en-US" sz="1100" dirty="0"/>
              <a:t>Calculates:</a:t>
            </a:r>
          </a:p>
          <a:p>
            <a:pPr lvl="1"/>
            <a:r>
              <a:rPr lang="en-US" sz="1100" b="1" dirty="0"/>
              <a:t>Quantity = output × (interval / 60)</a:t>
            </a:r>
            <a:endParaRPr lang="en-US" sz="1100" dirty="0"/>
          </a:p>
          <a:p>
            <a:pPr lvl="1"/>
            <a:r>
              <a:rPr lang="en-US" sz="1100" b="1" dirty="0"/>
              <a:t>Profit = ± price × quantity</a:t>
            </a:r>
            <a:endParaRPr 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1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/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JSON with decision, reason, quantity, and profit/loss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Results are passed to the dashboard for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Technology: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Implemented with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FastAPI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exposed at port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8003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Containerized and orchestrated via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Docker Compose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745BA2-4612-B3AF-D359-34C9096EE504}"/>
              </a:ext>
            </a:extLst>
          </p:cNvPr>
          <p:cNvSpPr txBox="1"/>
          <p:nvPr/>
        </p:nvSpPr>
        <p:spPr>
          <a:xfrm>
            <a:off x="311760" y="41454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Trading Service (Decision Logic)</a:t>
            </a:r>
          </a:p>
        </p:txBody>
      </p:sp>
    </p:spTree>
    <p:extLst>
      <p:ext uri="{BB962C8B-B14F-4D97-AF65-F5344CB8AC3E}">
        <p14:creationId xmlns:p14="http://schemas.microsoft.com/office/powerpoint/2010/main" val="1737640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Dashboard (Streamlit)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4722"/>
          </a:bodyPr>
          <a:lstStyle/>
          <a:p>
            <a:pPr marL="457200" indent="-2930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Visual UI for real-time monitoring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3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Features: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Forecast visualization with confidence bands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Market price trends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Trading actions and reasons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Cumulative profit tracking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30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Manual refresh button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30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Connects to trading service via API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Cron Job (Hourly Forecast Updates)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Lightweight cron container using Linux crontab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Executes every 15 minutes: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Triggers </a:t>
            </a:r>
            <a:r>
              <a:rPr lang="en" sz="1100" b="0" strike="noStrike" spc="-1" dirty="0">
                <a:solidFill>
                  <a:srgbClr val="188038"/>
                </a:solidFill>
                <a:latin typeface="Roboto Mono"/>
                <a:ea typeface="Roboto Mono"/>
              </a:rPr>
              <a:t>weather_service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to fetch current data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Calls </a:t>
            </a:r>
            <a:r>
              <a:rPr lang="en" sz="1100" b="0" strike="noStrike" spc="-1" dirty="0">
                <a:solidFill>
                  <a:srgbClr val="188038"/>
                </a:solidFill>
                <a:latin typeface="Roboto Mono"/>
                <a:ea typeface="Roboto Mono"/>
              </a:rPr>
              <a:t>forecast_service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 to generate predictions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Enables automation with no user intervention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Demo Snapshots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58760" indent="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+mj-lt"/>
                <a:ea typeface="Arial"/>
              </a:rPr>
              <a:t>prediction plot</a:t>
            </a:r>
            <a:br>
              <a:rPr sz="2000" dirty="0">
                <a:latin typeface="+mj-lt"/>
              </a:rPr>
            </a:br>
            <a:r>
              <a:rPr lang="en" sz="2000" b="0" strike="noStrike" spc="-1" dirty="0">
                <a:solidFill>
                  <a:schemeClr val="dk1"/>
                </a:solidFill>
                <a:latin typeface="+mj-lt"/>
              </a:rPr>
              <a:t> </a:t>
            </a:r>
            <a:endParaRPr lang="en-US" sz="2000" b="0" strike="noStrike" spc="-1" dirty="0">
              <a:solidFill>
                <a:srgbClr val="000000"/>
              </a:solidFill>
              <a:latin typeface="+mj-lt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endParaRPr lang="en" sz="11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pic>
        <p:nvPicPr>
          <p:cNvPr id="3" name="Picture 2" descr="A graph showing a graph">
            <a:extLst>
              <a:ext uri="{FF2B5EF4-FFF2-40B4-BE49-F238E27FC236}">
                <a16:creationId xmlns:a16="http://schemas.microsoft.com/office/drawing/2014/main" id="{C78BB148-387A-9E41-D84A-EE4A0FD8B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16" y="1822857"/>
            <a:ext cx="7171838" cy="2302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0CA6C548-7AC2-940B-CD57-92910B6B91EE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89" y="725445"/>
            <a:ext cx="8690110" cy="1678117"/>
          </a:xfrm>
        </p:spPr>
      </p:pic>
      <p:pic>
        <p:nvPicPr>
          <p:cNvPr id="7" name="Picture 6" descr="A graph with a line">
            <a:extLst>
              <a:ext uri="{FF2B5EF4-FFF2-40B4-BE49-F238E27FC236}">
                <a16:creationId xmlns:a16="http://schemas.microsoft.com/office/drawing/2014/main" id="{C6760884-403C-8AF6-641B-03A0BC2028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01" y="2468005"/>
            <a:ext cx="4175051" cy="2261478"/>
          </a:xfrm>
          <a:prstGeom prst="rect">
            <a:avLst/>
          </a:prstGeom>
        </p:spPr>
      </p:pic>
      <p:pic>
        <p:nvPicPr>
          <p:cNvPr id="11" name="Picture 10" descr="A blue line graph with numbers">
            <a:extLst>
              <a:ext uri="{FF2B5EF4-FFF2-40B4-BE49-F238E27FC236}">
                <a16:creationId xmlns:a16="http://schemas.microsoft.com/office/drawing/2014/main" id="{EF2221FF-3123-56CB-925F-51A865FFC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249" y="2596890"/>
            <a:ext cx="4427550" cy="23323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831A29-F216-D661-A2DF-13A0D8145E0F}"/>
              </a:ext>
            </a:extLst>
          </p:cNvPr>
          <p:cNvSpPr txBox="1"/>
          <p:nvPr/>
        </p:nvSpPr>
        <p:spPr>
          <a:xfrm>
            <a:off x="152400" y="1558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b="0" strike="noStrike" spc="-1" dirty="0">
                <a:solidFill>
                  <a:schemeClr val="dk1"/>
                </a:solidFill>
                <a:latin typeface="Arial"/>
                <a:ea typeface="Arial"/>
              </a:rPr>
              <a:t>Trading decisions + profit over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233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 shot of a computer program">
            <a:extLst>
              <a:ext uri="{FF2B5EF4-FFF2-40B4-BE49-F238E27FC236}">
                <a16:creationId xmlns:a16="http://schemas.microsoft.com/office/drawing/2014/main" id="{8E6D838C-771E-9AD2-0CB3-0AB746F2EDA5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35" y="806152"/>
            <a:ext cx="8520113" cy="1765598"/>
          </a:xfrm>
        </p:spPr>
      </p:pic>
      <p:pic>
        <p:nvPicPr>
          <p:cNvPr id="7" name="Picture 6" descr="A screen shot of a computer">
            <a:extLst>
              <a:ext uri="{FF2B5EF4-FFF2-40B4-BE49-F238E27FC236}">
                <a16:creationId xmlns:a16="http://schemas.microsoft.com/office/drawing/2014/main" id="{9E35A97F-6F54-DA5D-3EF1-350E5A937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" y="2861755"/>
            <a:ext cx="8520113" cy="16672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FD7536-B4C0-80C3-2F8C-CB80D41061AF}"/>
              </a:ext>
            </a:extLst>
          </p:cNvPr>
          <p:cNvSpPr txBox="1"/>
          <p:nvPr/>
        </p:nvSpPr>
        <p:spPr>
          <a:xfrm>
            <a:off x="0" y="367087"/>
            <a:ext cx="458617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8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API call from cron log output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96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Key Features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330210" indent="-17145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Real-time prediction-based energy trading</a:t>
            </a:r>
          </a:p>
          <a:p>
            <a:pPr marL="787410" lvl="1" indent="-17145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tabLst>
                <a:tab pos="0" algn="l"/>
              </a:tabLst>
            </a:pPr>
            <a:r>
              <a:rPr lang="en-US" sz="1100" dirty="0"/>
              <a:t>Automatically makes buy/sell decisions using up-to-date weather and market forecasts.</a:t>
            </a: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ML-powered forecast service</a:t>
            </a:r>
          </a:p>
          <a:p>
            <a:pPr marL="787410" lvl="1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-US" sz="1100" dirty="0"/>
              <a:t>Uses machine learning models trained on weather data to predict generation, price, and demand.</a:t>
            </a:r>
            <a:r>
              <a:rPr lang="en" sz="7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700" b="0" strike="noStrike" spc="-1" dirty="0">
              <a:solidFill>
                <a:srgbClr val="000000"/>
              </a:solidFill>
              <a:latin typeface="Arial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API-driven microservices</a:t>
            </a:r>
          </a:p>
          <a:p>
            <a:pPr marL="787410" lvl="1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dirty="0"/>
              <a:t> </a:t>
            </a:r>
            <a:r>
              <a:rPr lang="en-US" sz="1100" dirty="0"/>
              <a:t>Services communicate via REST APIs, allowing modularity, scalability, and easy integration.</a:t>
            </a: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Streamlit visualization with trading insights</a:t>
            </a:r>
          </a:p>
          <a:p>
            <a:pPr marL="787410" lvl="1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-US" sz="1100" dirty="0"/>
              <a:t>Live dashboard displays forecasts, trading decisions, and profit trends in an intuitive interface</a:t>
            </a:r>
            <a:r>
              <a:rPr lang="en" sz="7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700" b="0" strike="noStrike" spc="-1" dirty="0">
              <a:solidFill>
                <a:srgbClr val="000000"/>
              </a:solidFill>
              <a:latin typeface="Arial"/>
            </a:endParaRPr>
          </a:p>
          <a:p>
            <a:pPr marL="330210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Automated data updates via cron job</a:t>
            </a:r>
          </a:p>
          <a:p>
            <a:pPr marL="787410" lvl="1" indent="-171450">
              <a:lnSpc>
                <a:spcPct val="115000"/>
              </a:lnSpc>
              <a:buClr>
                <a:srgbClr val="000000"/>
              </a:buClr>
              <a:tabLst>
                <a:tab pos="0" algn="l"/>
              </a:tabLst>
            </a:pPr>
            <a:r>
              <a:rPr lang="en-US" sz="1100" dirty="0"/>
              <a:t>A lightweight </a:t>
            </a:r>
            <a:r>
              <a:rPr lang="en-US" sz="1100" dirty="0" err="1"/>
              <a:t>cron</a:t>
            </a:r>
            <a:r>
              <a:rPr lang="en-US" sz="1100" dirty="0"/>
              <a:t> container triggers forecasting every 15 minutes without manual input</a:t>
            </a: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0CBFD8-24BD-D338-0003-DFF0737B9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makes buy/sell decisions using up-to-date weather and market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" sz="1900" b="1" spc="-1" dirty="0">
                <a:solidFill>
                  <a:schemeClr val="dk1"/>
                </a:solidFill>
                <a:ea typeface="Arial"/>
              </a:rPr>
              <a:t>Benefits and Drawbacks</a:t>
            </a:r>
            <a:br>
              <a:rPr lang="en-US" sz="1900" spc="-1" dirty="0">
                <a:solidFill>
                  <a:srgbClr val="000000"/>
                </a:solidFill>
              </a:rPr>
            </a:br>
            <a:endParaRPr lang="en-US" sz="19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311760" y="882196"/>
            <a:ext cx="8520120" cy="37401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" sz="1000" b="1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Benefits: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Modular and reusable services</a:t>
            </a:r>
          </a:p>
          <a:p>
            <a:pPr marL="914400" lvl="1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Each microservice handles a specific task and can be independently updated or replaced</a:t>
            </a: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Real-time responsiveness</a:t>
            </a: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The system reacts instantly to new data, ensuring timely and informed trading actions</a:t>
            </a: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Portable (Dockerized for cloud/local)</a:t>
            </a: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Easily deployable on local machines or cloud platforms like AWS/GCP using Docker containers.</a:t>
            </a:r>
            <a:endParaRPr lang="en" sz="1000" b="0" strike="noStrike" spc="-1" dirty="0">
              <a:solidFill>
                <a:schemeClr val="dk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	 </a:t>
            </a:r>
            <a:r>
              <a:rPr lang="en" sz="1000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      </a:t>
            </a:r>
            <a:r>
              <a:rPr lang="en" sz="1000" b="1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Drawbacks: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Dependent on accurate weather inputs</a:t>
            </a: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Forecast quality and trading outcomes heavily rely on the precision of external weather data.</a:t>
            </a: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Fixed trading logic (not adaptive yet)</a:t>
            </a: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Uses static thresholds for decision-making; does not learn or evolve with new market conditions</a:t>
            </a: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000" b="0" strike="noStrike" spc="-1" dirty="0">
                <a:solidFill>
                  <a:schemeClr val="dk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Not tested with real-time grid APIs</a:t>
            </a: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The system currently runs in isolation and lacks integration with live grid or market platforms</a:t>
            </a:r>
            <a:endParaRPr lang="en-US" sz="10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900" b="0" strike="noStrike" spc="-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DA8F5B-34C2-4787-A769-26E6FA1CB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09679"/>
              </p:ext>
            </p:extLst>
          </p:nvPr>
        </p:nvGraphicFramePr>
        <p:xfrm>
          <a:off x="0" y="0"/>
          <a:ext cx="9144000" cy="51434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1">
                  <a:extLst>
                    <a:ext uri="{9D8B030D-6E8A-4147-A177-3AD203B41FA5}">
                      <a16:colId xmlns:a16="http://schemas.microsoft.com/office/drawing/2014/main" val="1962006462"/>
                    </a:ext>
                  </a:extLst>
                </a:gridCol>
                <a:gridCol w="5206999">
                  <a:extLst>
                    <a:ext uri="{9D8B030D-6E8A-4147-A177-3AD203B41FA5}">
                      <a16:colId xmlns:a16="http://schemas.microsoft.com/office/drawing/2014/main" val="1530777765"/>
                    </a:ext>
                  </a:extLst>
                </a:gridCol>
              </a:tblGrid>
              <a:tr h="6975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1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Challenge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1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Solution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514473"/>
                  </a:ext>
                </a:extLst>
              </a:tr>
              <a:tr h="12265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ML model tuning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Models were trained on simulated real-weather data to mimic real-world conditions and enhance forecast accuracy</a:t>
                      </a:r>
                      <a:r>
                        <a:rPr lang="en-US" dirty="0"/>
                        <a:t>.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  <a:ea typeface="Arial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014553"/>
                  </a:ext>
                </a:extLst>
              </a:tr>
              <a:tr h="996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Docker container communication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Services communicate over a shared Docker Compose network bridge, allowing seamless API calls between containers.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29163"/>
                  </a:ext>
                </a:extLst>
              </a:tr>
              <a:tr h="996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Scheduled forecasting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 custom </a:t>
                      </a:r>
                      <a:r>
                        <a:rPr lang="en-US" sz="1100" dirty="0" err="1"/>
                        <a:t>cron</a:t>
                      </a:r>
                      <a:r>
                        <a:rPr lang="en-US" sz="1100" dirty="0"/>
                        <a:t> container triggers forecasting every 15 minutes, automating weather data collection and prediction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914910"/>
                  </a:ext>
                </a:extLst>
              </a:tr>
              <a:tr h="12265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sz="1800" b="0" strike="noStrike" spc="-1" dirty="0">
                          <a:solidFill>
                            <a:srgbClr val="000000"/>
                          </a:solidFill>
                          <a:latin typeface="+mn-lt"/>
                          <a:ea typeface="Arial"/>
                        </a:rPr>
                        <a:t>Streamlit update delay</a:t>
                      </a:r>
                      <a:endParaRPr lang="en-US" sz="1800" b="0" strike="noStrike" spc="-1" dirty="0">
                        <a:solidFill>
                          <a:srgbClr val="000000"/>
                        </a:solidFill>
                        <a:latin typeface="+mn-l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the trading logic is executed </a:t>
                      </a:r>
                      <a:r>
                        <a:rPr lang="en-US" sz="1100" b="1" dirty="0"/>
                        <a:t>only once each time the user refreshes or updates the dashboard</a:t>
                      </a:r>
                      <a:r>
                        <a:rPr lang="en-US" sz="1100" dirty="0"/>
                        <a:t>—not repeatedly while the dashboard is open.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692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en" sz="2800" b="1" spc="-1" dirty="0">
                <a:solidFill>
                  <a:schemeClr val="dk1"/>
                </a:solidFill>
                <a:ea typeface="Arial"/>
              </a:rPr>
              <a:t>Conclusion and Future Work</a:t>
            </a:r>
            <a:br>
              <a:rPr lang="en-US" sz="2800" spc="-1" dirty="0">
                <a:solidFill>
                  <a:srgbClr val="000000"/>
                </a:solidFill>
              </a:rPr>
            </a:br>
            <a:endParaRPr lang="en-US" sz="2800" b="0" strike="noStrike" spc="-1" dirty="0">
              <a:solidFill>
                <a:schemeClr val="dk1"/>
              </a:solidFill>
              <a:latin typeface="Arial"/>
              <a:ea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Fully functioning microservice-based energy trading platform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Supports hourly autonomous forecasting and trading logic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Future Enhancements: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Integrate real grid APIs and market data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Add adaptive decision-making (RL)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Deploy to AWS/GCP</a:t>
            </a:r>
            <a:br>
              <a:rPr sz="1100" dirty="0"/>
            </a:br>
            <a:r>
              <a:rPr lang="en" sz="1100" b="0" strike="noStrike" spc="-1" dirty="0">
                <a:solidFill>
                  <a:schemeClr val="dk1"/>
                </a:solidFill>
                <a:latin typeface="Arial"/>
              </a:rPr>
              <a:t>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marL="914400" lvl="1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" sz="1100" b="0" strike="noStrike" spc="-1" dirty="0">
                <a:solidFill>
                  <a:schemeClr val="dk1"/>
                </a:solidFill>
                <a:latin typeface="Arial"/>
                <a:ea typeface="Arial"/>
              </a:rPr>
              <a:t>Train models on real-world datasets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024C2-BF5A-AADF-A29D-A5A216D2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287" y="2285550"/>
            <a:ext cx="1600167" cy="572400"/>
          </a:xfrm>
        </p:spPr>
        <p:txBody>
          <a:bodyPr/>
          <a:lstStyle/>
          <a:p>
            <a:r>
              <a:rPr lang="en-US" sz="24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6691801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</TotalTime>
  <Words>949</Words>
  <Application>Microsoft Office PowerPoint</Application>
  <PresentationFormat>On-screen Show (16:9)</PresentationFormat>
  <Paragraphs>124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Roboto Mono</vt:lpstr>
      <vt:lpstr>Symbol</vt:lpstr>
      <vt:lpstr>Times New Roman</vt:lpstr>
      <vt:lpstr>Wingdings</vt:lpstr>
      <vt:lpstr>Simple Light</vt:lpstr>
      <vt:lpstr>Simple Light</vt:lpstr>
      <vt:lpstr>Simple Light</vt:lpstr>
      <vt:lpstr>Renewable Energy Trading System</vt:lpstr>
      <vt:lpstr>Problem Statement         Overview</vt:lpstr>
      <vt:lpstr>System Architecture (Microservices) </vt:lpstr>
      <vt:lpstr>Forecast Service (ML Models) </vt:lpstr>
      <vt:lpstr>PowerPoint Presentation</vt:lpstr>
      <vt:lpstr>Dashboard (Streamlit) </vt:lpstr>
      <vt:lpstr>Cron Job (Hourly Forecast Updates) </vt:lpstr>
      <vt:lpstr>Demo Snapshots </vt:lpstr>
      <vt:lpstr>PowerPoint Presentation</vt:lpstr>
      <vt:lpstr>PowerPoint Presentation</vt:lpstr>
      <vt:lpstr>Key Features </vt:lpstr>
      <vt:lpstr>Benefits and Drawbacks </vt:lpstr>
      <vt:lpstr>PowerPoint Presentation</vt:lpstr>
      <vt:lpstr>Conclusion and Future Work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Alok Dinesh Sharma</cp:lastModifiedBy>
  <cp:revision>48</cp:revision>
  <dcterms:modified xsi:type="dcterms:W3CDTF">2025-11-01T06:59:35Z</dcterms:modified>
  <dc:language>en-US</dc:language>
</cp:coreProperties>
</file>